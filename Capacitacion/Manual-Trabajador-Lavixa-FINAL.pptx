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22d699655a4733" /><Relationship Type="http://schemas.openxmlformats.org/officeDocument/2006/relationships/extended-properties" Target="/docProps/app.xml" Id="R9ab8b2313c044b15" /><Relationship Type="http://schemas.openxmlformats.org/officeDocument/2006/relationships/officeDocument" Target="/ppt/presentation.xml" Id="Re59ffda35078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f6139f20e545db"/>
  </p:sldMasterIdLst>
  <p:notesMasterIdLst>
    <p:notesMasterId xmlns:r="http://schemas.openxmlformats.org/officeDocument/2006/relationships" r:id="R6fcb352814644613"/>
  </p:notesMasterIdLst>
  <p:sldIdLst>
    <p:sldId xmlns:r="http://schemas.openxmlformats.org/officeDocument/2006/relationships" id="256" r:id="Rf65c0ebea0564f0f"/>
    <p:sldId xmlns:r="http://schemas.openxmlformats.org/officeDocument/2006/relationships" id="257" r:id="R516cae431e044e9e"/>
    <p:sldId xmlns:r="http://schemas.openxmlformats.org/officeDocument/2006/relationships" id="258" r:id="R8b8031554c934e52"/>
    <p:sldId xmlns:r="http://schemas.openxmlformats.org/officeDocument/2006/relationships" id="259" r:id="R8696e5dea9424ae7"/>
    <p:sldId xmlns:r="http://schemas.openxmlformats.org/officeDocument/2006/relationships" id="260" r:id="Rf014982a34b04203"/>
    <p:sldId xmlns:r="http://schemas.openxmlformats.org/officeDocument/2006/relationships" id="261" r:id="R74ea9c6761b945e7"/>
    <p:sldId xmlns:r="http://schemas.openxmlformats.org/officeDocument/2006/relationships" id="262" r:id="R973c7335340740d8"/>
    <p:sldId xmlns:r="http://schemas.openxmlformats.org/officeDocument/2006/relationships" id="263" r:id="R875e8044dafa4c2e"/>
    <p:sldId xmlns:r="http://schemas.openxmlformats.org/officeDocument/2006/relationships" id="264" r:id="Rd31e9416ffcc466e"/>
    <p:sldId xmlns:r="http://schemas.openxmlformats.org/officeDocument/2006/relationships" id="265" r:id="R4fa7f9c53a8442ca"/>
    <p:sldId xmlns:r="http://schemas.openxmlformats.org/officeDocument/2006/relationships" id="266" r:id="R59a9ddb57a804fb8"/>
    <p:sldId xmlns:r="http://schemas.openxmlformats.org/officeDocument/2006/relationships" id="267" r:id="R470b31febfed4d5d"/>
    <p:sldId xmlns:r="http://schemas.openxmlformats.org/officeDocument/2006/relationships" id="268" r:id="Rfc448869402a4bd4"/>
    <p:sldId xmlns:r="http://schemas.openxmlformats.org/officeDocument/2006/relationships" id="269" r:id="R2825729e83504957"/>
    <p:sldId xmlns:r="http://schemas.openxmlformats.org/officeDocument/2006/relationships" id="270" r:id="R67be67fbb3d14d68"/>
    <p:sldId xmlns:r="http://schemas.openxmlformats.org/officeDocument/2006/relationships" id="271" r:id="R24a60199cbe945b2"/>
    <p:sldId xmlns:r="http://schemas.openxmlformats.org/officeDocument/2006/relationships" id="272" r:id="R463f474b7455449b"/>
    <p:sldId xmlns:r="http://schemas.openxmlformats.org/officeDocument/2006/relationships" id="273" r:id="R3df2a13ce70b46c4"/>
    <p:sldId xmlns:r="http://schemas.openxmlformats.org/officeDocument/2006/relationships" id="274" r:id="R3eac7fdd6db844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b7149813d74ef1" /><Relationship Type="http://schemas.openxmlformats.org/officeDocument/2006/relationships/slideMaster" Target="/ppt/slideMasters/slideMaster1.xml" Id="R7df6139f20e545db" /><Relationship Type="http://schemas.openxmlformats.org/officeDocument/2006/relationships/notesMaster" Target="/ppt/notesMasters/notesMaster1.xml" Id="R6fcb352814644613" /><Relationship Type="http://schemas.openxmlformats.org/officeDocument/2006/relationships/presProps" Target="/ppt/presProps.xml" Id="R65907b4fba5640fc" /><Relationship Type="http://schemas.openxmlformats.org/officeDocument/2006/relationships/viewProps" Target="/ppt/viewProps.xml" Id="Rba4366ee15904f8a" /><Relationship Type="http://schemas.openxmlformats.org/officeDocument/2006/relationships/tableStyles" Target="/ppt/tableStyles.xml" Id="R76dcbd2b2c4442a1" /><Relationship Type="http://schemas.openxmlformats.org/officeDocument/2006/relationships/slide" Target="/ppt/slides/slide1.xml" Id="Rf65c0ebea0564f0f" /><Relationship Type="http://schemas.openxmlformats.org/officeDocument/2006/relationships/slide" Target="/ppt/slides/slide2.xml" Id="R516cae431e044e9e" /><Relationship Type="http://schemas.openxmlformats.org/officeDocument/2006/relationships/slide" Target="/ppt/slides/slide3.xml" Id="R8b8031554c934e52" /><Relationship Type="http://schemas.openxmlformats.org/officeDocument/2006/relationships/slide" Target="/ppt/slides/slide4.xml" Id="R8696e5dea9424ae7" /><Relationship Type="http://schemas.openxmlformats.org/officeDocument/2006/relationships/slide" Target="/ppt/slides/slide5.xml" Id="Rf014982a34b04203" /><Relationship Type="http://schemas.openxmlformats.org/officeDocument/2006/relationships/slide" Target="/ppt/slides/slide6.xml" Id="R74ea9c6761b945e7" /><Relationship Type="http://schemas.openxmlformats.org/officeDocument/2006/relationships/slide" Target="/ppt/slides/slide7.xml" Id="R973c7335340740d8" /><Relationship Type="http://schemas.openxmlformats.org/officeDocument/2006/relationships/slide" Target="/ppt/slides/slide8.xml" Id="R875e8044dafa4c2e" /><Relationship Type="http://schemas.openxmlformats.org/officeDocument/2006/relationships/slide" Target="/ppt/slides/slide9.xml" Id="Rd31e9416ffcc466e" /><Relationship Type="http://schemas.openxmlformats.org/officeDocument/2006/relationships/slide" Target="/ppt/slides/slide10.xml" Id="R4fa7f9c53a8442ca" /><Relationship Type="http://schemas.openxmlformats.org/officeDocument/2006/relationships/slide" Target="/ppt/slides/slide11.xml" Id="R59a9ddb57a804fb8" /><Relationship Type="http://schemas.openxmlformats.org/officeDocument/2006/relationships/slide" Target="/ppt/slides/slide12.xml" Id="R470b31febfed4d5d" /><Relationship Type="http://schemas.openxmlformats.org/officeDocument/2006/relationships/slide" Target="/ppt/slides/slide13.xml" Id="Rfc448869402a4bd4" /><Relationship Type="http://schemas.openxmlformats.org/officeDocument/2006/relationships/slide" Target="/ppt/slides/slide14.xml" Id="R2825729e83504957" /><Relationship Type="http://schemas.openxmlformats.org/officeDocument/2006/relationships/slide" Target="/ppt/slides/slide15.xml" Id="R67be67fbb3d14d68" /><Relationship Type="http://schemas.openxmlformats.org/officeDocument/2006/relationships/slide" Target="/ppt/slides/slide16.xml" Id="R24a60199cbe945b2" /><Relationship Type="http://schemas.openxmlformats.org/officeDocument/2006/relationships/slide" Target="/ppt/slides/slide17.xml" Id="R463f474b7455449b" /><Relationship Type="http://schemas.openxmlformats.org/officeDocument/2006/relationships/slide" Target="/ppt/slides/slide18.xml" Id="R3df2a13ce70b46c4" /><Relationship Type="http://schemas.openxmlformats.org/officeDocument/2006/relationships/slide" Target="/ppt/slides/slide19.xml" Id="R3eac7fdd6db844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c0209dd80644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717684b2414c58" /><Relationship Type="http://schemas.openxmlformats.org/officeDocument/2006/relationships/notesMaster" Target="/ppt/notesMasters/notesMaster1.xml" Id="Rb77645170b4149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4e1e82c2964ae2" /><Relationship Type="http://schemas.openxmlformats.org/officeDocument/2006/relationships/notesMaster" Target="/ppt/notesMasters/notesMaster1.xml" Id="R3c2d5fd46c734d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779430f54546b9" /><Relationship Type="http://schemas.openxmlformats.org/officeDocument/2006/relationships/notesMaster" Target="/ppt/notesMasters/notesMaster1.xml" Id="Reb41fbbd646445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3e06e1c3a1467a" /><Relationship Type="http://schemas.openxmlformats.org/officeDocument/2006/relationships/notesMaster" Target="/ppt/notesMasters/notesMaster1.xml" Id="Rf41bc113780a47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3217dbcda54d9a" /><Relationship Type="http://schemas.openxmlformats.org/officeDocument/2006/relationships/notesMaster" Target="/ppt/notesMasters/notesMaster1.xml" Id="R1f83a7f85d2b4c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9e0b5886b745c9" /><Relationship Type="http://schemas.openxmlformats.org/officeDocument/2006/relationships/notesMaster" Target="/ppt/notesMasters/notesMaster1.xml" Id="R9d1d5adb11f642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e9b0318d024fb1" /><Relationship Type="http://schemas.openxmlformats.org/officeDocument/2006/relationships/notesMaster" Target="/ppt/notesMasters/notesMaster1.xml" Id="Rcb607568b86347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2e259a8d8041f1" /><Relationship Type="http://schemas.openxmlformats.org/officeDocument/2006/relationships/notesMaster" Target="/ppt/notesMasters/notesMaster1.xml" Id="R6300f2ad957a42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e2933caa044a71" /><Relationship Type="http://schemas.openxmlformats.org/officeDocument/2006/relationships/notesMaster" Target="/ppt/notesMasters/notesMaster1.xml" Id="R09be1bfebb284b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4b66c631a549c9" /><Relationship Type="http://schemas.openxmlformats.org/officeDocument/2006/relationships/notesMaster" Target="/ppt/notesMasters/notesMaster1.xml" Id="R919b26eee44243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39c31e3e1b4728" /><Relationship Type="http://schemas.openxmlformats.org/officeDocument/2006/relationships/notesMaster" Target="/ppt/notesMasters/notesMaster1.xml" Id="R4822161a97fc44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f62a42802041d2" /><Relationship Type="http://schemas.openxmlformats.org/officeDocument/2006/relationships/notesMaster" Target="/ppt/notesMasters/notesMaster1.xml" Id="R7cd53ae8513845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4d06d6a9c64947" /><Relationship Type="http://schemas.openxmlformats.org/officeDocument/2006/relationships/notesMaster" Target="/ppt/notesMasters/notesMaster1.xml" Id="R6c80e2535ebd4e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71d417765e4927" /><Relationship Type="http://schemas.openxmlformats.org/officeDocument/2006/relationships/notesMaster" Target="/ppt/notesMasters/notesMaster1.xml" Id="R04f16ebb6e2c44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799938a752477b" /><Relationship Type="http://schemas.openxmlformats.org/officeDocument/2006/relationships/notesMaster" Target="/ppt/notesMasters/notesMaster1.xml" Id="R584ae156c2e44d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a0258aa0ca4123" /><Relationship Type="http://schemas.openxmlformats.org/officeDocument/2006/relationships/notesMaster" Target="/ppt/notesMasters/notesMaster1.xml" Id="R2f8a78408f8041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a84287927143c7" /><Relationship Type="http://schemas.openxmlformats.org/officeDocument/2006/relationships/notesMaster" Target="/ppt/notesMasters/notesMaster1.xml" Id="R22941dfa3ec347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71f41f5b9e74411" /><Relationship Type="http://schemas.openxmlformats.org/officeDocument/2006/relationships/notesMaster" Target="/ppt/notesMasters/notesMaster1.xml" Id="Rc1871ea713e0439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8ea8c8915814b8f" /><Relationship Type="http://schemas.openxmlformats.org/officeDocument/2006/relationships/notesMaster" Target="/ppt/notesMasters/notesMaster1.xml" Id="R3f4096a1e31343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Portada. Da la bienvenida: "Hoy vamos a aprender a usar el sistema de la lavandería, paso a paso. No te preocupes si es tu primera vez: es fácil y lo haremos juntas."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el recorrido: "Vamos a ver estos 10 temas. Al final tendrás claro todo tu trabajo del día en el sistema."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 el rol completo. Aclara: "El sistema NO cambia tu trabajo, solo lo ordena: todo queda registrado y el cliente puede seguir su pedido."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Muestra el formulario real. La clave es personal. El ojo permite verla; si la olvida, el administrador debe restablecerla. Si solo tiene una sede, ingresará directamente al tablero.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 propia del sistema local LaviSystem, rol TRABAJADOR, 31/08/2026: Capacitacion/capturas/01-login-panel.png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Señala el menú real: Dashboard, Pedidos, Registrar, Caja, Clientes y Comprobantes. Explica que los avisos son prioridades del turno. Ajustes, Inventario y Reportes administrativos no aparecen para este 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 propia del sistema local LaviSystem, rol TRABAJADOR, 31/08/2026: Capacitacion/capturas/02-inicio-trabajador.png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 los 5 pasos en vivo registrando un pedido de ejemplo. Enfatiza: nombre + celular del cliente, agregar cada servicio, fecha de entrega, y el pago (puede ser parcial).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Haz la pregunta de decisión: ¿quién lleva la ropa desde el cliente a Lavixa y quién devuelve el pedido terminado? Tienda: el cliente hace ambos traslados. Recojo: Lavixa realiza el retiro inicial. Delivery: Lavixa hace la entrega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Ejemplo: el cliente llama y pide que Lavixa retire su ropa. Selecciona Recojo, confirma el celular, escribe la dirección donde recoger, registra los servicios declarados y ajusta el costo. Cuando la ropa llegue, verifica cantidades y observaciones. Recojo no significa que el cliente vendrá a la tienda.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 propia del sistema local LaviSystem, rol TRABAJADOR, 31/08/2026: Capacitacion/capturas/04-registro-recojo-top.png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registres Delivery si el mapa no coincide con la dirección. Usa Buscar dirección o marca el punto exacto, confirma distrito y referencia, revisa la tarifa y la fecha. Cuando el repartidor salga, envía el enlace de seguimiento por WhatsApp.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 propia del sistema local LaviSystem, rol TRABAJADOR, 31/08/2026: Capacitacion/capturas/07-registro-delivery-mapa.png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Muestra un ticket real impreso. Explica que es el comprobante de recojo del cliente y cómo reimprimir si se pierde.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 el concepto de áreas con la barra. La idea: el sistema refleja dónde está físicamente la ropa. Así todos saben en qué va cada pedido.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Señala la barra de áreas, el saldo y el botón verde. En este ejemplo el pedido está listo, pero debe S/39: usa “Cobrar S/39 y entregar”. No entregues sin verificar el ticket, la identidad acordada y el pago. Cobrar y avanzar son acciones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 propia del sistema local LaviSystem, rol TRABAJADOR, 31/08/2026: Capacitacion/capturas/09-detalle-pedido.png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delivery: el botón de WhatsApp manda el "en camino" con link y datos de Yape. Muestra dónde está. El repartidor puede mostrar el QR de Yape al cobrar.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 los tres bloques: 1) cuenta solo el efectivo; 2) revisa ventas por método y registra gastos; 3) indica retiro, saldo que queda y cierra. Yape, Plin, transferencia y tarjeta se ven en Ventas del día, pero no se suman al efectivo físico.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 propia del sistema local LaviSystem, rol TRABAJADOR, 31/08/2026: Capacitacion/capturas/10-cuadre-caja.png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trabajadora consulta la bandeja y descarga el PDF cuando corresponda. No uses los comprobantes marcados SIMULADO como documentos reales. Para factura se necesita RUC de 11 dígitos; la configuración del proveedor y SUNAT corresponde al administrador.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 propia del sistema local LaviSystem, rol TRABAJADOR, 31/08/2026: Capacitacion/capturas/11-comprobantes.png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Cierra la parte operativa con las reglas de oro. Refuerza registrar a tiempo, fotos de evidencia, y contar el efectivo en el cuadre.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Pide a la trabajadora que explique la diferencia con sus propias palabras. Si puede dar un ejemplo de cada caso, el concepto quedó claro.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Cierra con ánimo. Ofrece resolver dudas y recuerda que puede repasar este manual cuando quiera.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7cd34baa54c1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8cc7ddcd98472e" /><Relationship Type="http://schemas.openxmlformats.org/officeDocument/2006/relationships/slideLayout" Target="/ppt/slideLayouts/slideLayout1.xml" Id="R24289b7975a14e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289b7975a14e3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7c5b41d8b4369" /><Relationship Type="http://schemas.openxmlformats.org/officeDocument/2006/relationships/notesSlide" Target="/ppt/notesSlides/notesSlide1.xml" Id="R1f6e272a2fdc48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81778675b48c5" /><Relationship Type="http://schemas.openxmlformats.org/officeDocument/2006/relationships/notesSlide" Target="/ppt/notesSlides/notesSlide2.xml" Id="R9e215b649dcd4b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2223954b44fd6" /><Relationship Type="http://schemas.openxmlformats.org/officeDocument/2006/relationships/notesSlide" Target="/ppt/notesSlides/notesSlide3.xml" Id="Rebf1ac26274045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ab29b8d8249a3" /><Relationship Type="http://schemas.openxmlformats.org/officeDocument/2006/relationships/image" Target="/ppt/media/image.jpeg" Id="R596a5f81e2c44fc1" /><Relationship Type="http://schemas.openxmlformats.org/officeDocument/2006/relationships/notesSlide" Target="/ppt/notesSlides/notesSlide4.xml" Id="R417d1e027d7e42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91819e1984bda" /><Relationship Type="http://schemas.openxmlformats.org/officeDocument/2006/relationships/image" Target="/ppt/media/image2.jpeg" Id="R4cb7fcb37b814d9b" /><Relationship Type="http://schemas.openxmlformats.org/officeDocument/2006/relationships/notesSlide" Target="/ppt/notesSlides/notesSlide5.xml" Id="R00bb1f920b484b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2f80d28004b29" /><Relationship Type="http://schemas.openxmlformats.org/officeDocument/2006/relationships/notesSlide" Target="/ppt/notesSlides/notesSlide6.xml" Id="R92e56012e4454c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4b5ccc71f4de6" /><Relationship Type="http://schemas.openxmlformats.org/officeDocument/2006/relationships/notesSlide" Target="/ppt/notesSlides/notesSlide7.xml" Id="R35ce2106020f42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cea995a5649eb" /><Relationship Type="http://schemas.openxmlformats.org/officeDocument/2006/relationships/image" Target="/ppt/media/image3.jpeg" Id="R9196d1ef41764364" /><Relationship Type="http://schemas.openxmlformats.org/officeDocument/2006/relationships/notesSlide" Target="/ppt/notesSlides/notesSlide8.xml" Id="Rcab3a6902cfd47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36e1f0bed4558" /><Relationship Type="http://schemas.openxmlformats.org/officeDocument/2006/relationships/image" Target="/ppt/media/image4.jpeg" Id="Rae51df85bbc14881" /><Relationship Type="http://schemas.openxmlformats.org/officeDocument/2006/relationships/notesSlide" Target="/ppt/notesSlides/notesSlide9.xml" Id="R93ae9ac8a55146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25c1c4cfb4480" /><Relationship Type="http://schemas.openxmlformats.org/officeDocument/2006/relationships/notesSlide" Target="/ppt/notesSlides/notesSlide10.xml" Id="Rf186327a89a74c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27c96b63c4fe4" /><Relationship Type="http://schemas.openxmlformats.org/officeDocument/2006/relationships/notesSlide" Target="/ppt/notesSlides/notesSlide11.xml" Id="Ra4a4a8bc917841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df2139ac948de" /><Relationship Type="http://schemas.openxmlformats.org/officeDocument/2006/relationships/image" Target="/ppt/media/image5.jpeg" Id="Rc9d389367ce44c58" /><Relationship Type="http://schemas.openxmlformats.org/officeDocument/2006/relationships/notesSlide" Target="/ppt/notesSlides/notesSlide12.xml" Id="R05f2248764f245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dfe2db7a44d70" /><Relationship Type="http://schemas.openxmlformats.org/officeDocument/2006/relationships/notesSlide" Target="/ppt/notesSlides/notesSlide13.xml" Id="R61400d4a312545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b5389b5654c73" /><Relationship Type="http://schemas.openxmlformats.org/officeDocument/2006/relationships/image" Target="/ppt/media/image6.jpeg" Id="R287e57a56bd24375" /><Relationship Type="http://schemas.openxmlformats.org/officeDocument/2006/relationships/notesSlide" Target="/ppt/notesSlides/notesSlide14.xml" Id="R2a1380e8a22142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40304f51a4f1f" /><Relationship Type="http://schemas.openxmlformats.org/officeDocument/2006/relationships/image" Target="/ppt/media/image7.jpeg" Id="R614186775c074057" /><Relationship Type="http://schemas.openxmlformats.org/officeDocument/2006/relationships/notesSlide" Target="/ppt/notesSlides/notesSlide15.xml" Id="R8ecc83feea2c4b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e1602562241b9" /><Relationship Type="http://schemas.openxmlformats.org/officeDocument/2006/relationships/notesSlide" Target="/ppt/notesSlides/notesSlide16.xml" Id="Reb683df95eaf497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5381aae9b4c6d" /><Relationship Type="http://schemas.openxmlformats.org/officeDocument/2006/relationships/notesSlide" Target="/ppt/notesSlides/notesSlide17.xml" Id="R110c6ad03cb141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beb20d65c4826" /><Relationship Type="http://schemas.openxmlformats.org/officeDocument/2006/relationships/notesSlide" Target="/ppt/notesSlides/notesSlide18.xml" Id="R9b6ba8f145944d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275156d0446db" /><Relationship Type="http://schemas.openxmlformats.org/officeDocument/2006/relationships/notesSlide" Target="/ppt/notesSlides/notesSlide19.xml" Id="Ree29ae10e20646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34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921A6BD-5192-41B8-BB32-BE7CFBAF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E49A9A1-C983-4D98-AA4C-7E30A269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A7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5E0F441-43C9-4B8B-816A-A71C2B27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347472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3A66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A95F6C7-24BA-4192-883F-47BA182E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48640" y="502920"/>
            <a:ext cx="502920" cy="502920"/>
          </a:xfrm>
          <a:prstGeom xmlns:a="http://schemas.openxmlformats.org/drawingml/2006/main" prst="roundRect">
            <a:avLst>
              <a:gd name="adj" fmla="val 47273"/>
            </a:avLst>
          </a:prstGeom>
          <a:solidFill xmlns:a="http://schemas.openxmlformats.org/drawingml/2006/main">
            <a:srgbClr val="053465"/>
          </a:solidFill>
          <a:ln xmlns:a="http://schemas.openxmlformats.org/drawingml/2006/main" w="31750">
            <a:solidFill>
              <a:srgbClr val="FCD76F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DB67A07-18C2-49DC-BEA6-D31E261C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LAVIXA</a:t>
            </a:r>
            <a:endParaRPr sz="2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9DC2DFE-C7A2-4722-BACA-2128F1DD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82296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300">
                <a:solidFill>
                  <a:srgbClr val="CFE0F2"/>
                </a:solidFill>
                <a:latin typeface="Calibri"/>
                <a:ea typeface="Calibri"/>
                <a:cs typeface="Calibri"/>
              </a:rPr>
              <a:t>Lavandería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92D7904-F42F-413E-AE70-B01312B7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 spc="3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MANUAL DE USO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A858701-94E8-4460-A211-6FE137AC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96012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Guía del Trabajador</a:t>
            </a:r>
            <a:endParaRPr sz="4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964330A-781D-4FC5-A7FD-5F1D705F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CFE0F2"/>
                </a:solidFill>
                <a:latin typeface="Calibri"/>
                <a:ea typeface="Calibri"/>
                <a:cs typeface="Calibri"/>
              </a:rPr>
              <a:t>Cómo registrar pedidos, hacer seguimiento, cobrar en caja y emitir comprobantes en el sistema LaviSystem.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C419E07-23EE-496D-A074-40141C50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7558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Lavandería Lavixa · Comas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372798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C1AE09C-2885-46AC-8D18-3843DDE0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CONTENIDO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AAEE98-68E8-4191-BBC3-A296955E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Lo que verás en este manual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4370A00-AFCB-4E24-867D-E09A641F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5362956" cy="841248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7B9E59F-B786-4EA2-B61E-3EDEFA82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74650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42FAEA-4803-4849-9098-946B87FE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74650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1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11148CD-D777-476D-84AC-5E8EBEED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682496"/>
            <a:ext cx="44485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Tu rol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06D7F8-FFAC-4945-8626-D4DCA077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011680"/>
            <a:ext cx="44485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Qué tareas harás cada día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CDF314A-6E01-4D32-A9D6-2144EC36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356" y="1554480"/>
            <a:ext cx="5362956" cy="841248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F6A4B5A-A970-4D52-9617-8CC2B359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948" y="174650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4A11EA0-73CE-41F3-B913-BD11C064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948" y="174650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2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47D3C7-2785-465C-BF8B-1F2C2584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596" y="1682496"/>
            <a:ext cx="44485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Ingresar al sistema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7211881-8F66-4595-B368-D4572262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596" y="2011680"/>
            <a:ext cx="44485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Usuario, clave y elegir sede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FCA4C2E-EA84-41A9-A564-5E460E9A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23744"/>
            <a:ext cx="5362956" cy="841248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D660A6A-A121-4A57-B3D8-7F5F5342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157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47E6BF7-FEFE-4A95-BC88-6CD11C73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157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3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DE34ED6-8C05-449B-99A1-1576D6F9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651760"/>
            <a:ext cx="44485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Tu pantalla de inicio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B50E691-696F-4A6B-8FD0-EB5959F6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980944"/>
            <a:ext cx="44485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Los módulos que verás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02877DC-8F3F-471B-8BE3-A0A1F5BD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356" y="2523744"/>
            <a:ext cx="5362956" cy="841248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1B17BDD-1A7E-4E29-BB25-2F3E0814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948" y="27157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B7FB797-0749-4949-8CCA-DE8D5E3C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948" y="27157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4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0D78BCF-86D4-4730-A9EF-A3102DAD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596" y="2651760"/>
            <a:ext cx="44485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Registrar un pedido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C241B6B-A7AA-4AF0-BE4E-4B672851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596" y="2980944"/>
            <a:ext cx="44485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Los 5 pasos + Tienda/Recojo/Delivery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34B858F-8AF2-43A0-90D1-73F6405D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93008"/>
            <a:ext cx="5362956" cy="841248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7200324-128D-4A1A-9FA5-2F47062C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850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9817A3C-87F9-4445-B335-ED0C23C5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850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5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1BA3D88-80AF-4B2A-9C5B-0B696EC9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621024"/>
            <a:ext cx="44485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El ticket</a:t>
            </a:r>
            <a:endParaRPr sz="16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B478147-82BC-470E-A9C9-1799698A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950208"/>
            <a:ext cx="44485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Imprimir y entregar al cliente</a:t>
            </a:r>
            <a:endParaRPr sz="12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31CD420-8EAE-4A8C-834D-ED33C9D5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356" y="3493008"/>
            <a:ext cx="5362956" cy="841248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A95285D-AF23-4CD2-B345-72DA216B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948" y="36850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E018C36-7497-4921-84C3-D8BFBD26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948" y="36850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6</a:t>
            </a:r>
            <a:endParaRPr sz="15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0F2A364-D1BF-4BC5-BB76-591E6E6D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596" y="3621024"/>
            <a:ext cx="44485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Seguimiento por áreas</a:t>
            </a:r>
            <a:endParaRPr sz="16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14DD95E-9AEA-49D0-8A81-5FD593C0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596" y="3950208"/>
            <a:ext cx="44485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Avanzar el pedido hasta la entrega</a:t>
            </a:r>
            <a:endParaRPr sz="12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BE139FF-A738-43D2-81FB-B58EBD12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62272"/>
            <a:ext cx="5362956" cy="841248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FC1B489-3EBE-4046-AA35-BD2A526F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542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94A8A16-1DFA-4F3F-8603-36BA3C67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54296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7</a:t>
            </a:r>
            <a:endParaRPr sz="15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46FFDDA-A2FE-432E-9603-9FD68229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590288"/>
            <a:ext cx="44485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Cobrar</a:t>
            </a:r>
            <a:endParaRPr sz="16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4D239A5D-1D7B-430A-AB9C-63EE1E6C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919472"/>
            <a:ext cx="44485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Registrar el pago del cliente</a:t>
            </a:r>
            <a:endParaRPr sz="12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BBB7E371-F59C-4355-9AB8-83807B56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356" y="4462272"/>
            <a:ext cx="5362956" cy="841248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8A518FA-8576-4A8B-8014-75709CCE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948" y="46542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AC7E77F-FECA-4036-AC96-119FBC6C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948" y="4654296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8</a:t>
            </a:r>
            <a:endParaRPr sz="15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F7571633-4637-4ADE-B6C6-0CE6FA7A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596" y="4590288"/>
            <a:ext cx="44485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Cuadre de caja</a:t>
            </a:r>
            <a:endParaRPr sz="16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CBEBF4C-9089-4ED3-94B7-B4FB014F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596" y="4919472"/>
            <a:ext cx="44485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Cerrar el día en 3 pasos</a:t>
            </a:r>
            <a:endParaRPr sz="12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E2BC7A0-6549-4A2B-A3DD-202C8A9C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31536"/>
            <a:ext cx="5362956" cy="841248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6496DCC-E881-400E-BBD6-0B3355BD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23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92FA79A5-DB4D-4DE6-93C7-0C525F3A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23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9</a:t>
            </a:r>
            <a:endParaRPr sz="15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52BC46CB-D9CF-4F6A-BF77-74F0DEB6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559552"/>
            <a:ext cx="44485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Boletas y facturas</a:t>
            </a:r>
            <a:endParaRPr sz="160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52E7A483-6EBB-49E2-AA08-1A3234A6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888736"/>
            <a:ext cx="44485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Consultar comprobantes emitidos</a:t>
            </a:r>
            <a:endParaRPr sz="125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6334BF99-1A5A-4890-8F54-E79B8C0E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356" y="5431536"/>
            <a:ext cx="5362956" cy="841248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34A16E81-1E13-4540-A3AF-AEF9C705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948" y="5623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2920A0F5-F3C1-4A3A-8ED0-63EFC2B2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948" y="5623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10</a:t>
            </a:r>
            <a:endParaRPr sz="15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4441F140-622C-464E-BB41-2C536DD5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596" y="5559552"/>
            <a:ext cx="44485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Preguntas frecuentes</a:t>
            </a:r>
            <a:endParaRPr sz="16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E739DFE5-063A-42B1-989C-F9CAAA8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596" y="5888736"/>
            <a:ext cx="44485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Dudas comunes con respuesta</a:t>
            </a:r>
            <a:endParaRPr sz="125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BF586F10-60ED-4317-B359-FEE41170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36003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D9E45B-9CCB-4DD8-85A7-DC1C6C3A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TU ROL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3D1A3BD-0D29-4230-B113-D6ABC0FC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¿Qué harás con el sistema?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3B7E8AB-3CEC-4B83-89CB-E4983D97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Como trabajador de Lavixa, el sistema te acompaña en 6 tareas del día a día: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4F215B0-4EEC-4B5B-A7DB-D9E98C45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3514344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008BE57-954B-4137-9B3B-0D06266B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219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6F8"/>
          </a:solidFill>
          <a:ln xmlns:a="http://schemas.openxmlformats.org/drawingml/2006/main" w="19050">
            <a:solidFill>
              <a:srgbClr val="06B0BD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3B87D84-7761-48A3-8DE2-FB83D65B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2199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1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F32559B-23EB-4AF6-9D36-D6790CD6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88920"/>
            <a:ext cx="3002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Registrar pedidos</a:t>
            </a:r>
            <a:endParaRPr sz="15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3C88585-1452-4E01-8E40-FE523F37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36392"/>
            <a:ext cx="3002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Anotar lo que trae el cliente, el precio y cuándo lo recoge.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C92F9E7-AA17-42DD-AB7D-79915CBC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304" y="1965960"/>
            <a:ext cx="3514344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8671066-78FE-43C5-BD2A-90218509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336" y="22219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6F8"/>
          </a:solidFill>
          <a:ln xmlns:a="http://schemas.openxmlformats.org/drawingml/2006/main" w="19050">
            <a:solidFill>
              <a:srgbClr val="06B0B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1119FD6-F6DD-4922-AE59-07B55AD2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336" y="222199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2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79B68D1-42A5-4122-90DB-174338A3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336" y="2788920"/>
            <a:ext cx="3002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Seguir el avance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6511ACB-B6A3-4A3D-99CA-883D8823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336" y="3136392"/>
            <a:ext cx="3002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Mover el pedido por las áreas (lavado, secado…) hasta la entrega.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352CBD6-08E5-471D-96C0-6053D6EF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968" y="1965960"/>
            <a:ext cx="3514344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8F39165-80D1-4478-AC11-CE1B1588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19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6F8"/>
          </a:solidFill>
          <a:ln xmlns:a="http://schemas.openxmlformats.org/drawingml/2006/main" w="19050">
            <a:solidFill>
              <a:srgbClr val="06B0B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4CEE149-D64D-4CEE-AAF2-522C80CC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199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3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223334F-CEFE-4FE8-ADCA-DE9ED7FD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8920"/>
            <a:ext cx="3002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Entregar y cobrar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9849CDC-40DD-4CFF-AC9E-2EC4AAF8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36392"/>
            <a:ext cx="3002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Cobrar el saldo y entregar la ropa al cliente.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6C738F4-9088-43B3-B97F-63146855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3514344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BC0F82D-6762-4A03-B294-7EB42A0D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793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6F8"/>
          </a:solidFill>
          <a:ln xmlns:a="http://schemas.openxmlformats.org/drawingml/2006/main" w="19050">
            <a:solidFill>
              <a:srgbClr val="06B0BD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CC59501-39D0-484A-A7DB-FD2E6246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7939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4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2DADD38-EB16-41AE-961C-C9C91578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46320"/>
            <a:ext cx="3002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Recojo y delivery</a:t>
            </a:r>
            <a:endParaRPr sz="15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B0BC8AF-81E0-40BA-A46A-64B6845C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193792"/>
            <a:ext cx="3002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Coordinar retiros y entregas a domicilio por WhatsApp.</a:t>
            </a:r>
            <a:endParaRPr sz="12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27530A4-F0EB-4D3A-857A-3D7CEC79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304" y="4023360"/>
            <a:ext cx="3514344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18CED5B-B69E-440B-AA7A-1C79AE69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336" y="42793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6F8"/>
          </a:solidFill>
          <a:ln xmlns:a="http://schemas.openxmlformats.org/drawingml/2006/main" w="19050">
            <a:solidFill>
              <a:srgbClr val="06B0BD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73672AB-C60A-4784-8E42-0900AC7E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336" y="427939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5</a:t>
            </a:r>
            <a:endParaRPr sz="15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8A6040C-EA2D-41AA-943A-ECDB25A9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336" y="4846320"/>
            <a:ext cx="3002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Cuadre de caja</a:t>
            </a:r>
            <a:endParaRPr sz="15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7E42EDF-7393-40FB-B251-36980A4B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336" y="5193792"/>
            <a:ext cx="3002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Cerrar la caja al final del día.</a:t>
            </a:r>
            <a:endParaRPr sz="12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017F5A8-A4DE-4BDA-AA84-72662F69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968" y="4023360"/>
            <a:ext cx="3514344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9061FE7-A342-4940-AFE2-5740204B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793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6F8"/>
          </a:solidFill>
          <a:ln xmlns:a="http://schemas.openxmlformats.org/drawingml/2006/main" w="19050">
            <a:solidFill>
              <a:srgbClr val="06B0BD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C55F69A-7C6F-4A08-8F85-22986D35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7939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6</a:t>
            </a:r>
            <a:endParaRPr sz="15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88C0696-9CB1-4980-BA47-4417B9E9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46320"/>
            <a:ext cx="3002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Boletas y facturas</a:t>
            </a:r>
            <a:endParaRPr sz="15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1427B00-5933-4217-AE1A-026C1229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93792"/>
            <a:ext cx="3002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Emitir el comprobante electrónico del pedido.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EF9BBD3-AF39-4A89-AD9E-BECB97D7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429293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E0B399-B4CD-4078-B872-EB72A838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PASO A PASO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118C7C-3AE8-4944-845D-C3F42144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1. Ingresar con tu usuario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D7E4036-CF92-4384-A4A5-134CEC46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676656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5AD35C3-551F-46F6-A36C-24B13F4D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2996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1DB621F-6D53-4D32-827C-752C814F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2996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1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C25F3EE-D1D8-4BA8-9E2A-A6B57E52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83664"/>
            <a:ext cx="5577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Abre el enlace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BDE21D-2D5F-4F59-BCD8-ADE2BC0A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240280"/>
            <a:ext cx="5577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Entra al enlace del sistema en el navegador (Chrome). Guárdalo en favoritos.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C8BF05A-F5B0-436A-838C-1491296E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71800"/>
            <a:ext cx="676656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53EB0B-718D-46F8-9396-EAE69EEA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6440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2E42CD-8455-49B4-A130-FEB691F2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6440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2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E4D7318-A3BB-4ED8-8519-DCF8A449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4"/>
            <a:ext cx="5577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Escribe tu usuario y clave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6A7F8AA-EFB3-4C69-A6BD-AB614DB8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74720"/>
            <a:ext cx="5577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Usa el usuario y contraseña que te dio el administrador. El ojo 👁 te deja ver la clave.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E7018D1-5692-4F5A-8D4F-A1B04DCA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676656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74ABE3A-2155-428C-BFB3-A49C07F0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60239D6-EBB7-4BCB-981E-733B038B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3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FB9CE80-6645-46AB-A5BB-B15B7EE9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352544"/>
            <a:ext cx="5577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Elige la sede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817EC9C-74A5-412D-926E-AD7C5BEE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709160"/>
            <a:ext cx="5577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Selecciona "Sede Principal". Con eso entras a tu pantalla de inicio.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033452C-BD24-4BD4-BDDD-7778FAB7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3</a:t>
            </a:r>
            <a:endParaRPr sz="1000"/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a5f81e2c44fc1"/>
          <a:srcRect xmlns:a="http://schemas.openxmlformats.org/drawingml/2006/main" l="8" t="0" r="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1733550"/>
            <a:ext cx="2552700" cy="3524250"/>
          </a:xfrm>
          <a:prstGeom xmlns:a="http://schemas.openxmlformats.org/drawingml/2006/main" prst="roundRect">
            <a:avLst>
              <a:gd name="adj" fmla="val 3731"/>
            </a:avLst>
          </a:prstGeom>
        </p:spPr>
      </p:pic>
    </p:spTree>
    <p:extLst>
      <p:ext uri="{BB962C8B-B14F-4D97-AF65-F5344CB8AC3E}">
        <p14:creationId xmlns:p14="http://schemas.microsoft.com/office/powerpoint/2010/main" val="1026020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FA2C691-0464-41E3-9D65-597D6333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TU PANTALLA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B1CEE3-6894-4EC5-8E50-0730BF44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2. Tu inicio y tus módulos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37B5C8-CEE5-4E3B-961F-942B8487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Al entrar verás tu tablero. En el menú de la izquierda solo aparecen TUS módulos:</a:t>
            </a:r>
            <a:endParaRPr sz="15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7AE78E8-C42F-412C-AAC9-6233A01F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4</a:t>
            </a:r>
            <a:endParaRPr sz="1000"/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7fcb37b814d9b"/>
          <a:srcRect xmlns:a="http://schemas.openxmlformats.org/drawingml/2006/main" l="26" t="0" r="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1857375"/>
            <a:ext cx="7620000" cy="428625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932985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BCC60E-84AE-4950-B148-A7494B2F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PASO A PASO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C371F3-1A98-4BE6-9209-76D4AE3A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3. Registrar un pedido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5B45508-2A27-4B19-8690-B9DED73B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Entra a "Registrar". La pantalla te </a:t>
            </a:r>
            <a:r>
              <a:rPr sz="15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guía</a:t>
            </a:r>
            <a:r>
              <a:rPr sz="15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 en 5 pasos, de arriba hacia abajo: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33D5788-6564-44B2-92F9-F872EEAD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5EC55AC-6F48-4B23-99B5-53FEA623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1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D5DAF1-8036-412A-9667-74AEA993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865376"/>
            <a:ext cx="104515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Datos del cliente.  </a:t>
            </a: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Busca al cliente por nombre/celular o escríbelo nuevo (nombre y celular). El celular sirve para avisarle por WhatsApp.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E6B404C-0A20-4E26-9A33-2FC15C78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786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411BA-C894-4EB3-9C47-E143CF16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786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2</a:t>
            </a:r>
            <a:endParaRPr sz="15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E17E48A-52D6-450E-BA20-DB93DF5A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23744"/>
            <a:ext cx="104515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Servicios y prendas.  Elige el servicio y pulsa "Agregar". Repite por cada prenda; al recibirla, verifica cantidades y toma fotos si está manchada o delicada.</a:t>
            </a:r>
            <a:endParaRPr sz="13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2D932BD-3B03-47F2-8131-7FC3726F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3697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C847F36-CCFF-4513-AA25-E36DAE93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36976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3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8C8814-8334-4BA1-8498-C0BFE904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182112"/>
            <a:ext cx="104515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¿Cuándo estará listo?.  </a:t>
            </a: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Pon la fecha y hora de entrega (o usa los botones rápidos: En 24h, 48h…).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E499CA4-6530-4741-98FA-E8D7628B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9534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F687FDB-8C2F-4531-9FA1-622AE9D7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9534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4</a:t>
            </a:r>
            <a:endParaRPr sz="15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7EF52A1-BE52-4DCA-ABF7-8C316CE2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840480"/>
            <a:ext cx="104515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Descuento (si aplica).  </a:t>
            </a: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Aplica un código de promoción o marca "urgente" solo si corresponde.</a:t>
            </a:r>
            <a:endParaRPr sz="13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FD11D77-95DA-46E7-8E5A-10139ED7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5371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7BB9F03-1B76-4BDB-9EAF-5ACFC6B2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5371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5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F6D1328-6EDB-40FC-A098-47412674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498848"/>
            <a:ext cx="104515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Pago.  </a:t>
            </a: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Anota cuánto paga ahora (puede ser a cuenta). Deja marcado "Enviar confirmación por WhatsApp".</a:t>
            </a:r>
            <a:endParaRPr sz="13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44368A9-4BD9-4DF7-950F-919DC58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30368"/>
            <a:ext cx="11091672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F6F8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DC85527-FEC6-400C-A861-B011EDE2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30368"/>
            <a:ext cx="1063447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Para terminar:  </a:t>
            </a: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pulsa </a:t>
            </a: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"Registrar pedido"</a:t>
            </a: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 (arriba a la derecha). Se genera el pedido y su ticket.</a:t>
            </a:r>
            <a:endParaRPr sz="13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704B834-1983-4928-84F7-B56FB71A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71021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C01581-6789-4CA1-90B8-C9FEEB57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AL REGISTRAR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BBB3516-C2E2-4DCB-A6D6-AAC75701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Tienda, Recojo o Delivery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CD01908-6BCE-487E-9572-3CE3489B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Elige según quién mueve las prendas entre el cliente y la lavandería: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6AD0547-CDC5-47C1-828B-C4D2E185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3514344" cy="2743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2BA4178-0520-48A1-A590-4C0A6C82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86000"/>
            <a:ext cx="300228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6B0BD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1D2A9D8-9223-48A3-82AD-ACDC63B9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86000"/>
            <a:ext cx="3002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Tienda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48B9857-B801-4F4A-8A64-EB57E918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2965704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El cliente deja y recoge en la tienda. Es lo más común.</a:t>
            </a:r>
            <a:endParaRPr sz="13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1BBE30-2826-4F60-9821-668F07BE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304" y="2011680"/>
            <a:ext cx="3514344" cy="2743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FF225F7-F38C-49A4-9DA9-5ED41807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336" y="2286000"/>
            <a:ext cx="300228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A4A7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10D3588-8306-4CB8-B55F-1FA914D5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336" y="2286000"/>
            <a:ext cx="3002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Recojo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C1CE455-413A-49CA-AF12-0816620E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624" y="3063240"/>
            <a:ext cx="2965704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Lavixa recoge las prendas en el domicilio. Exige celular, dirección habitual y una tarifa de recojo.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FA13B6B-BAEB-4D69-BD6E-71BE0360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968" y="2011680"/>
            <a:ext cx="3514344" cy="2743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1517C2A-7DF9-4A8B-9436-A3199C59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300228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CD76F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97B23F-1BA0-4C22-8CD7-00370A13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3002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Delivery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72D5492-CB42-44CB-A9F4-FFD6EC82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288" y="3063240"/>
            <a:ext cx="2965704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Lavixa entrega el pedido terminado. Exige dirección exacta, distrito, punto en el mapa y tarifa de delivery.</a:t>
            </a:r>
            <a:endParaRPr sz="13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7166E6F-9482-4F0B-BF1A-4B0EC65F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11091672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568830C-1D09-4939-ADC5-9EC631D5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12080"/>
            <a:ext cx="1063447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8A6D00"/>
                </a:solidFill>
                <a:latin typeface="Calibri"/>
                <a:ea typeface="Calibri"/>
                <a:cs typeface="Calibri"/>
              </a:rPr>
              <a:t>Ojo: en Tienda, “fecha de recojo” es cuándo vuelve el cliente. No es la modalidad Recojo, que significa retiro a domicilio.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28C4FF4-3AA6-4EBB-B567-A1491C61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088294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50A61B-3E80-4CF2-B62D-9608353F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MODALIDAD RECOJO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1AAA69-2AA1-4F9B-ABF1-8CAC2CF1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Lavixa retira las prendas del domicilio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D5D80C6-F7C9-4748-97E3-637B5960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8FAF301-6135-4F52-A70F-349ABC29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E14D22-5563-4C9A-8F43-B9316FC5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691640"/>
            <a:ext cx="47625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Cliente y celular.  Sirven para coordinar el retiro por WhatsApp.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DD546D5-2799-4C97-96CE-466E45D5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AE13FF0-3607-44E5-952F-220244CE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2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BC14B93-9B20-45E8-9287-276B2829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0"/>
            <a:ext cx="47625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Dirección habitual.  Es obligatoria: allí recogeremos las prendas.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F21DCD6-013E-43DE-94F3-DBA1C31B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ACA24F3-5AC4-4902-8937-B9ED27BF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3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BD9A8AE-B385-4AA3-A670-C947F9BA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94760"/>
            <a:ext cx="47625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Costo y devolución.  Ajusta la tarifa. Si el pedido terminado vuelve a domicilio, conviértelo a Delivery.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3EAB4BB-CABF-4075-A53D-FD13BFC0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7</a:t>
            </a:r>
            <a:endParaRPr sz="1000"/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6d1ef41764364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714500"/>
            <a:ext cx="5048250" cy="2838450"/>
          </a:xfrm>
          <a:prstGeom xmlns:a="http://schemas.openxmlformats.org/drawingml/2006/main" prst="roundRect">
            <a:avLst>
              <a:gd name="adj" fmla="val 3356"/>
            </a:avLst>
          </a:prstGeom>
        </p:spPr>
      </p:pic>
    </p:spTree>
    <p:extLst>
      <p:ext uri="{BB962C8B-B14F-4D97-AF65-F5344CB8AC3E}">
        <p14:creationId xmlns:p14="http://schemas.microsoft.com/office/powerpoint/2010/main" val="17611407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50A61B-3E80-4CF2-B62D-9608353F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MODALIDAD DELIVERY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1AAA69-2AA1-4F9B-ABF1-8CAC2CF1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Lavixa devuelve el pedido a domicilio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D5D80C6-F7C9-4748-97E3-637B5960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8FAF301-6135-4F52-A70F-349ABC29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E14D22-5563-4C9A-8F43-B9316FC5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691640"/>
            <a:ext cx="47625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Dirección exacta.  Escribe calle, número, distrito y una referencia útil.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DD546D5-2799-4C97-96CE-466E45D5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AE13FF0-3607-44E5-952F-220244CE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2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BC14B93-9B20-45E8-9287-276B2829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0"/>
            <a:ext cx="47625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Punto en el mapa.  Debe coincidir con la dirección escrita antes de registrar.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F21DCD6-013E-43DE-94F3-DBA1C31B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ACA24F3-5AC4-4902-8937-B9ED27BF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3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BD9A8AE-B385-4AA3-A670-C947F9BA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94760"/>
            <a:ext cx="47625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Tarifa y despacho.  Ajusta el costo y, al salir, envía el seguimiento por WhatsApp.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3EAB4BB-CABF-4075-A53D-FD13BFC0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8</a:t>
            </a:r>
            <a:endParaRPr sz="1000"/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1df85bbc14881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714500"/>
            <a:ext cx="5048250" cy="2838450"/>
          </a:xfrm>
          <a:prstGeom xmlns:a="http://schemas.openxmlformats.org/drawingml/2006/main" prst="roundRect">
            <a:avLst>
              <a:gd name="adj" fmla="val 3356"/>
            </a:avLst>
          </a:prstGeom>
        </p:spPr>
      </p:pic>
    </p:spTree>
    <p:extLst>
      <p:ext uri="{BB962C8B-B14F-4D97-AF65-F5344CB8AC3E}">
        <p14:creationId xmlns:p14="http://schemas.microsoft.com/office/powerpoint/2010/main" val="17611407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50A61B-3E80-4CF2-B62D-9608353F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DESPUÉS DE REGISTRAR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1AAA69-2AA1-4F9B-ABF1-8CAC2CF1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4. El ticket del pedido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D5D80C6-F7C9-4748-97E3-637B5960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8FAF301-6135-4F52-A70F-349ABC29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E14D22-5563-4C9A-8F43-B9316FC5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691640"/>
            <a:ext cx="5852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Imprime el ticket.  </a:t>
            </a: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Al registrar se abre el ticket. Pulsa "Imprimir ticket" en tu impresora térmica.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DD546D5-2799-4C97-96CE-466E45D5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AE13FF0-3607-44E5-952F-220244CE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2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BC14B93-9B20-45E8-9287-276B2829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0"/>
            <a:ext cx="5852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Entrégaselo al cliente.  </a:t>
            </a: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Es su comprobante para recoger. Cualquier persona que lo presente puede recoger.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F21DCD6-013E-43DE-94F3-DBA1C31B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ACA24F3-5AC4-4902-8937-B9ED27BF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3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BD9A8AE-B385-4AA3-A670-C947F9BA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94760"/>
            <a:ext cx="5852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¿Necesitas otra copia?.  </a:t>
            </a: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Abre el pedido y usa "Reimprimir ticket".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96E42F4-64AE-46B8-80A0-8128C31D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691640"/>
            <a:ext cx="3566160" cy="4114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9D95DBD-1BB9-40C3-AB93-9485EDB3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920240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spc="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ORDEN DE SERVICIO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7EFC93C-581D-425F-ABBA-BF968165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148840"/>
            <a:ext cx="3566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N° 50</a:t>
            </a:r>
            <a:endParaRPr sz="3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3DFAFD8-DA4E-402C-A84D-1905263E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8920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C27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C2F6C39-D2A8-479A-BEF0-929064B3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80360"/>
            <a:ext cx="30175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Ingreso : 24 de agosto, 10:11 am</a:t>
            </a:r>
            <a:endParaRPr sz="11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Entrega : 24 de agosto, 06:00 pm</a:t>
            </a:r>
            <a:endParaRPr sz="11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Cliente : Yolanda Jaime</a:t>
            </a:r>
            <a:endParaRPr sz="11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Lavado al agua por kilo   3.5   12.25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A42C9FD-DA64-4838-926E-9C1A7604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C2733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BFD1B6D-8C29-4106-B291-FBCE3A26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93776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PAGO PENDIENTE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0762878-1712-4B30-A899-CBA2139F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525780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S/ 12.30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3EAB4BB-CABF-4075-A53D-FD13BFC0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9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611407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16B488E-5D41-428A-880F-9917BC1A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SEGUIMIENTO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D59BC9-2F16-4CDE-898B-D1E114E1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5. El avance por áreas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C5DBD11-0D0E-44ED-877E-609D9DFB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Cada pedido pasa por áreas hasta la entrega. En el pedido verás esta barra de avance: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D4C9143-7701-44D3-86DC-801FD85F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02" y="2798064"/>
            <a:ext cx="95071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7D3E0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093EDED-547D-4755-B859-DD85F2AA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38" y="25146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  <a:ln xmlns:a="http://schemas.openxmlformats.org/drawingml/2006/main" w="25400">
            <a:solidFill>
              <a:srgbClr val="053465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6F64854-445B-4BBF-9B6E-C54A300E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38" y="25146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1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472BB2-3340-43C8-A6D8-CC56041E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158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Recepción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DC29D99-3150-4BD4-ABBC-4A125E4C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963" y="25146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7D3E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1712E27-E64B-4C39-ABA6-E0415872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963" y="25146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2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C2D152C-29FF-4DF6-8E38-CD922B16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165" y="3154680"/>
            <a:ext cx="158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Lavado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A1FBC44-F5A1-47BA-BAF0-02471DFB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487" y="25146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7D3E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8A8E812-B8F5-4234-AFDB-2B6E1775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487" y="25146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3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10A1FA3-7203-42DA-8AC0-F0663E8B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689" y="3154680"/>
            <a:ext cx="158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Secado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AC41E34-64BE-4B40-87FE-3B9E50F6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012" y="25146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7D3E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C94FD68-0336-4FDF-83BA-D8E42000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012" y="25146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4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A16047A-9148-4301-BBC4-76AEE1C6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14" y="3154680"/>
            <a:ext cx="158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Doblado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9DDEB8F-F72A-4994-BE1C-1AA338DF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537" y="25146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7D3E0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77ADCA3-4189-4D63-B192-111FDD0D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537" y="25146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5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6829621-1000-44CB-A529-BCFF64E3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738" y="3154680"/>
            <a:ext cx="158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Control</a:t>
            </a:r>
            <a:endParaRPr sz="11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051501D-429B-4271-A472-4B4E2486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0061" y="25146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7D3E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8A94B5E-2F6F-4CC4-9A0D-A176F880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0061" y="25146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6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4AC41B4-2252-4860-8006-133420E9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263" y="3154680"/>
            <a:ext cx="158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Embolsado</a:t>
            </a:r>
            <a:endParaRPr sz="11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97BDCA6-A2A8-4FC3-9720-0F512E0F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4586" y="25146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7D3E0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4562113-CA9C-47B9-8FA5-EF63E59E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4586" y="25146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7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A6A12E7-BC7E-401F-956F-5EFF5F2D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787" y="3154680"/>
            <a:ext cx="158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Entrega</a:t>
            </a:r>
            <a:endParaRPr sz="11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C4CB597-D745-4EB5-BDED-113B85E8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11091672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5416D6E-5AB8-40D9-865C-29906861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¿Cómo funciona?</a:t>
            </a:r>
            <a:endParaRPr sz="16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8FF5340-44E2-49FB-9C82-8B0B9317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26280"/>
            <a:ext cx="10543032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Todo pedido empieza en Recepción.</a:t>
            </a:r>
            <a:endParaRPr sz="13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Tú lo vas moviendo al área siguiente conforme avanza el trabajo real (lo lavaste → pásalo a Secado, etc.).</a:t>
            </a:r>
            <a:endParaRPr sz="13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Cuando llega a Entrega, el pedido está listo para darlo al cliente.</a:t>
            </a:r>
            <a:endParaRPr sz="13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10F087D-E6D3-4E2B-9823-0D260625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10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872690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551B85-F61A-4111-A857-E3603194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SEGUIMIENTO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DF71488-500A-423E-BCFE-2ED8E021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6. Avanzar, cobrar y entregar</a:t>
            </a:r>
            <a:endParaRPr sz="2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ADD53C0-3D32-4098-A344-E75CB7C1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11</a:t>
            </a:r>
            <a:endParaRPr sz="1000"/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389367ce44c58"/>
          <a:srcRect xmlns:a="http://schemas.openxmlformats.org/drawingml/2006/main" l="63" t="0" r="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81175" y="1428750"/>
            <a:ext cx="8629650" cy="485775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</p:spTree>
    <p:extLst>
      <p:ext uri="{BB962C8B-B14F-4D97-AF65-F5344CB8AC3E}">
        <p14:creationId xmlns:p14="http://schemas.microsoft.com/office/powerpoint/2010/main" val="7597373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8DB6EB4-E74D-41CB-ABE8-F63DB54D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DELIVERY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54E343-ABA2-497E-BD01-9098FE1C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7. Avisar al cliente (WhatsApp)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5726150-06DE-44E0-A47B-66F6F722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11091672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265D48A-EC57-403A-9E37-FA761F6D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9EE"/>
          </a:solidFill>
          <a:ln xmlns:a="http://schemas.openxmlformats.org/drawingml/2006/main" w="19050">
            <a:solidFill>
              <a:srgbClr val="147A45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3815D76-A3BA-4EFB-8E78-057AE6C7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47A45"/>
                </a:solidFill>
                <a:latin typeface="Calibri"/>
                <a:ea typeface="Calibri"/>
                <a:cs typeface="Calibri"/>
              </a:rPr>
              <a:t>1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CA03D85-5746-4405-9FEA-1DFAB5D0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965960"/>
            <a:ext cx="99029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Enviar seguimiento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45CD08-9FD6-47CB-91BE-E7AEDC85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31720"/>
            <a:ext cx="99029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En un pedido delivery, el botón verde de WhatsApp envía al cliente un mensaje "va en camino" con el enlace para seguir su pedido.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01A9D3A-1B58-4921-83D7-691C093C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11091672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0F4A859-1BDA-4656-87B1-B3BF7741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43814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9EE"/>
          </a:solidFill>
          <a:ln xmlns:a="http://schemas.openxmlformats.org/drawingml/2006/main" w="19050">
            <a:solidFill>
              <a:srgbClr val="147A4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D647669-D4E6-4A99-AE42-DE2CAB32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438144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47A45"/>
                </a:solidFill>
                <a:latin typeface="Calibri"/>
                <a:ea typeface="Calibri"/>
                <a:cs typeface="Calibri"/>
              </a:rPr>
              <a:t>2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0C5DEAB-5313-4E97-AA73-ADB8258A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291840"/>
            <a:ext cx="99029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Cobro por Yape / Plin</a:t>
            </a:r>
            <a:endParaRPr sz="15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94DBB89-CFFA-4FE9-93E7-824BEDFA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657600"/>
            <a:ext cx="99029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El mensaje incluye el saldo pendiente y el número de Yape/Plin. En la puerta puedes mostrar el QR de Yape al cliente.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A2C703B-CD20-4608-BA7E-A4A38FD1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91672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8E3BB7D-3131-444F-9EF4-46A34DA2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76402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9EE"/>
          </a:solidFill>
          <a:ln xmlns:a="http://schemas.openxmlformats.org/drawingml/2006/main" w="19050">
            <a:solidFill>
              <a:srgbClr val="147A45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7B483C2-CF61-4A86-893F-74A42CCD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764024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47A45"/>
                </a:solidFill>
                <a:latin typeface="Calibri"/>
                <a:ea typeface="Calibri"/>
                <a:cs typeface="Calibri"/>
              </a:rPr>
              <a:t>3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56A4808-F49F-4359-9F08-5E5EBE6E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617720"/>
            <a:ext cx="99029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Confirma la entrega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DD22BDF-14A3-4F82-BE6C-5BE2A4BC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983480"/>
            <a:ext cx="99029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Cuando se entrega, marca el pedido como entregado igual que en tienda.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39051C0-C971-4D66-A7F0-DD102364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12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93838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D2B7EB-378E-40A0-BCDE-8EF135E6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FIN DEL DÍA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62951A-0DBB-4D45-AE33-650A8EC3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8. Cuadre de caja en pantalla</a:t>
            </a:r>
            <a:endParaRPr sz="28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06ECBA6-650A-49A0-BD65-55A9EA06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13</a:t>
            </a:r>
            <a:endParaRPr sz="1000"/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e57a56bd24375"/>
          <a:srcRect xmlns:a="http://schemas.openxmlformats.org/drawingml/2006/main" l="63" t="0" r="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81175" y="1428750"/>
            <a:ext cx="8629650" cy="485775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</p:spTree>
    <p:extLst>
      <p:ext uri="{BB962C8B-B14F-4D97-AF65-F5344CB8AC3E}">
        <p14:creationId xmlns:p14="http://schemas.microsoft.com/office/powerpoint/2010/main" val="14660213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E1EE378-7D18-4F54-A9C3-A379697B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COMPROBANTES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ED14939-EF51-48E1-9F78-E946F433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9. Comprobantes electrónicos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76C99E-5C08-48D1-B408-C88DBD2F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Consulta los comprobantes emitidos y descarga el PDF. “SIMULADO” significa que es un dato de práctica.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E089CA5-6B1C-4BA5-B583-75368061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14</a:t>
            </a:r>
            <a:endParaRPr sz="1000"/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186775c074057"/>
          <a:srcRect xmlns:a="http://schemas.openxmlformats.org/drawingml/2006/main" l="46" t="0" r="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28825" y="1762125"/>
            <a:ext cx="8124825" cy="45720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</p:spTree>
    <p:extLst>
      <p:ext uri="{BB962C8B-B14F-4D97-AF65-F5344CB8AC3E}">
        <p14:creationId xmlns:p14="http://schemas.microsoft.com/office/powerpoint/2010/main" val="2067818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FF6E22-B7AB-48F9-ADB6-0FA492DC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RECUERDA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85E2B2F-A5BC-4324-9389-FCF5D8BC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Buenas prácticas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D7C4941-866F-40F8-8E43-3B357B9D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362956" cy="402336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2514D3-6FA2-4B23-80C7-63535BEC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481431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47A45"/>
                </a:solidFill>
                <a:latin typeface="Calibri"/>
                <a:ea typeface="Calibri"/>
                <a:cs typeface="Calibri"/>
              </a:rPr>
              <a:t>✔  Haz esto</a:t>
            </a:r>
            <a:endParaRPr sz="17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550197C-DEE9-4D73-930E-187EB182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481431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Pide siempre nombre y celular del cliente: sirve para avisarle.</a:t>
            </a:r>
            <a:endParaRPr sz="1350"/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Registra al confirmar; al recibir, verifica prendas y cantidades.</a:t>
            </a:r>
            <a:endParaRPr sz="1350"/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Toma foto de prendas manchadas o delicadas (evita reclamos).</a:t>
            </a:r>
            <a:endParaRPr sz="1350"/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Mueve el pedido de área conforme avanza el trabajo real.</a:t>
            </a:r>
            <a:endParaRPr sz="1350"/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Cobra y luego emite la boleta/factura.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6D47189-5DDF-4886-9665-D5CCE411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356" y="1645920"/>
            <a:ext cx="5362956" cy="402336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D93D519-0679-423D-A138-7536D951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676" y="1828800"/>
            <a:ext cx="481431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✘  Evita esto</a:t>
            </a:r>
            <a:endParaRPr sz="17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50D73A5-B717-4517-AD24-784C1442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676" y="2377440"/>
            <a:ext cx="481431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No dejes pedidos sin registrar "para después".</a:t>
            </a:r>
            <a:endParaRPr sz="1350"/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No compartas tu usuario/clave.</a:t>
            </a:r>
            <a:endParaRPr sz="1350"/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No cierres la caja sin contar el efectivo.</a:t>
            </a:r>
            <a:endParaRPr sz="1350"/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No entregues sin verificar el ticket y el pago.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5265291-972B-4FA0-B4F1-6D569960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15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356152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807D77F-247F-48F2-849E-87D113B8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PREGUNTAS FRECUENTES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FEEB39-019D-4213-BDBC-CBBA9414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Dudas comunes (1 de 2)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A0424A3-84BC-4546-9B0E-A86F56C9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91672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077F4F6-07D0-475F-85D7-C42A2C95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2C516B-74D3-473D-AB9F-86EF007B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?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ED00C5E-C011-404C-974D-25A62F62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746504"/>
            <a:ext cx="10085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El cliente no tiene DNI ni RUC, ¿le puedo emitir comprobante?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99AE733-1429-44BE-B97D-92F55083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075688"/>
            <a:ext cx="10085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7A45"/>
                </a:solidFill>
                <a:latin typeface="Calibri"/>
                <a:ea typeface="Calibri"/>
                <a:cs typeface="Calibri"/>
              </a:rPr>
              <a:t>R:  Para BOLETA puede emitirse sin documento; desde S/ 700 el DNI es obligatorio. Para FACTURA siempre necesitas RUC de 11 dígitos.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72BD602-D9CA-44DD-9EB9-8AA4F195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60904"/>
            <a:ext cx="11091672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0E5F540-2544-4298-ADE9-483B8361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4378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6DC1C96-6BBA-48B9-8F1D-5690AB34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4378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?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1D6750D-4EE7-41A9-8C1B-4A46A223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07208"/>
            <a:ext cx="10085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¿Emito la boleta antes o después de cobrar?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3E2B478-A571-4493-AA68-46F253C6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136392"/>
            <a:ext cx="100858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7A45"/>
                </a:solidFill>
                <a:latin typeface="Calibri"/>
                <a:ea typeface="Calibri"/>
                <a:cs typeface="Calibri"/>
              </a:rPr>
              <a:t>R:  </a:t>
            </a:r>
            <a:r>
              <a:rPr sz="12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Después. El botón "Emitir Boleta/Factura" aparece cuando el pedido ya está PAGADO. Primero cobra, luego emite.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4720F66-56E9-4E1F-9E01-7856E05E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75888"/>
            <a:ext cx="11091672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9319104-BF43-4F55-9998-91DA085B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5876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03969BA-2D52-4968-A006-03F4CC0C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5876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?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C0999D-2417-4364-88E5-79824BE6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822192"/>
            <a:ext cx="10085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Me equivoqué al registrar un pedido, ¿qué hago?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9E03E58-AF0B-47B1-B377-1F56B07D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51376"/>
            <a:ext cx="100858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7A45"/>
                </a:solidFill>
                <a:latin typeface="Calibri"/>
                <a:ea typeface="Calibri"/>
                <a:cs typeface="Calibri"/>
              </a:rPr>
              <a:t>R:  </a:t>
            </a:r>
            <a:r>
              <a:rPr sz="12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Puedes abrirlo y corregir (agregar ítem, cambiar fecha). Si está muy mal, usa "Anular pedido" y regístralo de nuevo. Avisa al encargado.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BFC69EA-9B00-402F-9ACA-57EB3BF1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90872"/>
            <a:ext cx="11091672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EA7D398-A784-40D0-ABE5-FA0A235C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737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26EEEE-AF4F-43D9-B7AB-4F46FF66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7375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?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A485055-80BD-4BE1-95A8-F8964A4E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37176"/>
            <a:ext cx="10085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¿Cómo paso el pedido de un área a otra?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A7BDBA9-7B9F-445D-A32F-92F12E9C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166360"/>
            <a:ext cx="100858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7A45"/>
                </a:solidFill>
                <a:latin typeface="Calibri"/>
                <a:ea typeface="Calibri"/>
                <a:cs typeface="Calibri"/>
              </a:rPr>
              <a:t>R:  </a:t>
            </a:r>
            <a:r>
              <a:rPr sz="12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Abre el pedido y pulsa "Avanzar a [área siguiente]" (o el botón verde en la lista). Repite hasta llegar a Entrega.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46513F4-665C-4C34-887B-EB5BA4D0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16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83516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030803A-FD7C-463A-AF7D-42EB35D1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6B0BD"/>
                </a:solidFill>
                <a:latin typeface="Calibri"/>
                <a:ea typeface="Calibri"/>
                <a:cs typeface="Calibri"/>
              </a:rPr>
              <a:t>PREGUNTAS FRECUENTES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75EB9DF-D123-4951-A858-E0269D9C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Dudas comunes (2 de 2)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D3F88AF-7165-4A4B-9676-4FDD3C7A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91672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23FAB41-7330-45CC-8EB0-94758C14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167063B-49CB-474F-BC2C-E6652325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?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5D4848-ED84-40BC-877E-65E2F993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746504"/>
            <a:ext cx="10085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¿“Recojo” y “fecha de recojo” significan lo mismo?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432AC84-942E-4BA3-A236-227DB8D0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075688"/>
            <a:ext cx="100858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7A45"/>
                </a:solidFill>
                <a:latin typeface="Calibri"/>
                <a:ea typeface="Calibri"/>
                <a:cs typeface="Calibri"/>
              </a:rPr>
              <a:t>R:  No. Recojo = Lavixa retira prendas en el domicilio. En Tienda, fecha de recojo = cuándo vuelve el cliente por su ropa.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34DF7AC-BC7A-42DF-9DAB-33C5A348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15184"/>
            <a:ext cx="11091672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3205049-1278-427A-9A26-10E475C6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980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DA7123A-3876-4A98-937E-963507A6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9806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?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21BBE63-742B-4AFA-9DAB-21F49AA2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761488"/>
            <a:ext cx="10085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La caja no cuadra (sobra o falta), ¿qué hago?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119D389-D3D2-45B8-9877-11D91FF3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090672"/>
            <a:ext cx="100858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7A45"/>
                </a:solidFill>
                <a:latin typeface="Calibri"/>
                <a:ea typeface="Calibri"/>
                <a:cs typeface="Calibri"/>
              </a:rPr>
              <a:t>R:  </a:t>
            </a:r>
            <a:r>
              <a:rPr sz="12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Cuenta el efectivo de nuevo y revisa cobros y gastos en efectivo del día (Yape/tarjeta no cuentan aquí). Si sigue sin cuadrar, anota la diferencia y avisa al encargado.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78B9D19-D195-4307-98DB-E47D7DCA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21608"/>
            <a:ext cx="11091672" cy="82296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A4CBD8F-C590-498F-8113-4775C7A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04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3D2D920-8F54-4654-8820-FC1CA252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04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?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4529F3E-0AC6-4189-B17E-0C2757F6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867912"/>
            <a:ext cx="10085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Olvidé mi contraseña / no puedo entrar.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8D620E1-1F6E-4299-A988-8437B99C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97096"/>
            <a:ext cx="10085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7A45"/>
                </a:solidFill>
                <a:latin typeface="Calibri"/>
                <a:ea typeface="Calibri"/>
                <a:cs typeface="Calibri"/>
              </a:rPr>
              <a:t>R:  </a:t>
            </a:r>
            <a:r>
              <a:rPr sz="12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Pídele al administrador que te la restablezca desde Usuarios. Nunca uses la cuenta de otra persona.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46385C6-21E2-496C-A393-9DAE8F06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90872"/>
            <a:ext cx="11091672" cy="82296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A26E11D-C7D4-45FB-B257-7EF43E88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737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465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37325CA-71BD-4303-AE3E-283101A0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7375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?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7C7DCB9-6E8E-492E-BF69-A2AF99CD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37176"/>
            <a:ext cx="10085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53465"/>
                </a:solidFill>
                <a:latin typeface="Calibri"/>
                <a:ea typeface="Calibri"/>
                <a:cs typeface="Calibri"/>
              </a:rPr>
              <a:t>No veo Reportes ni puedo cambiar precios.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6B41040-23CC-4EB8-A64E-B30CB78C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166360"/>
            <a:ext cx="10085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7A45"/>
                </a:solidFill>
                <a:latin typeface="Calibri"/>
                <a:ea typeface="Calibri"/>
                <a:cs typeface="Calibri"/>
              </a:rPr>
              <a:t>R:  </a:t>
            </a:r>
            <a:r>
              <a:rPr sz="12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Es normal: tu usuario solo tiene tus módulos. Los precios, servicios y reportes los maneja el administrador.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635AC22-4E52-4BD9-B967-C827F560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17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299622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34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978AA3C-5DC2-44B8-99EE-355193CC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840480"/>
            <a:ext cx="5486400" cy="548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A7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48E4BF8-3BF8-45BA-91BB-DC1CCCE1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¡Estás lista! 🎉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A87262E-9BCA-4D1D-A22E-F315F43A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960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CFE0F2"/>
                </a:solidFill>
                <a:latin typeface="Calibri"/>
                <a:ea typeface="Calibri"/>
                <a:cs typeface="Calibri"/>
              </a:rPr>
              <a:t>Practica ahora: registra un pedido Tienda, uno Recojo y uno Delivery; luego abre un pedido, avánzalo y ubica el cuadre de caja.</a:t>
            </a:r>
            <a:endParaRPr sz="1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212925-3E3D-46AC-8684-3E85F8D5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FCD76F"/>
                </a:solidFill>
                <a:latin typeface="Calibri"/>
                <a:ea typeface="Calibri"/>
                <a:cs typeface="Calibri"/>
              </a:rPr>
              <a:t>Lavandería Lavixa · Sistema LaviSystem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1896863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2026-08-31T23:06:41.3150000Z</dcterms:created>
  <dcterms:modified xsi:type="dcterms:W3CDTF">2026-08-31T23:06:41.3150000Z</dcterms:modified>
</coreProperties>
</file>